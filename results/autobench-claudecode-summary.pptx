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920240"/>
            <a:ext cx="10515600" cy="10058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4600" b="1">
                <a:solidFill>
                  <a:srgbClr val="FFFFFF"/>
                </a:solidFill>
                <a:latin typeface="Arial"/>
              </a:rPr>
              <a:t>Benchmarking Claude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108960"/>
            <a:ext cx="10058400" cy="9144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000" b="0">
                <a:solidFill>
                  <a:srgbClr val="CADCFC"/>
                </a:solidFill>
                <a:latin typeface="Arial"/>
              </a:rPr>
              <a:t>Cost, skill effect and model selection — measured, priced, and where it</a:t>
            </a:r>
          </a:p>
          <a:p>
            <a:pPr algn="l"/>
            <a:r>
              <a:rPr sz="2000" b="0">
                <a:solidFill>
                  <a:srgbClr val="CADCFC"/>
                </a:solidFill>
                <a:latin typeface="Arial"/>
              </a:rPr>
              <a:t>surprised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257800"/>
            <a:ext cx="100584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9AB0D8"/>
                </a:solidFill>
                <a:latin typeface="Arial"/>
              </a:rPr>
              <a:t>194 recorded repetitions  ·  100 in the n=5 cost grid  ·  4 models  ·  internal LiteLLM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69280"/>
            <a:ext cx="10058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7A8FC0"/>
                </a:solidFill>
                <a:latin typeface="Arial"/>
              </a:rPr>
              <a:t>Last modified 2026-09-09 17:13 EDT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9AB0D8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TABLE OF 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47088"/>
            <a:ext cx="49377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1 · SETUP AND METHOD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194560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What a benchmark is made of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10028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510028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What is being measured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825496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825496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Terms in 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40963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140963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Benchmarking setup — architecture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456431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3456431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Why this shape — rationale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771899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771899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How a task earns its place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087367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087367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What the verdict actually 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640579"/>
            <a:ext cx="49377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2 · PRICING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988051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4988051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Model pricing — internal LiteLLM rate card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1847088"/>
            <a:ext cx="49377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3 · FINDINGS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219456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2194560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A prediction of ours that was falsified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2510028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9440" y="2510028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Two factors drive token cost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2825496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49440" y="2825496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Money reverses the token conclusion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3140963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0" y="3140963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Token-efficiency is not cost-efficiency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3456431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3456431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A subagent's calls land in the totals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60" y="3771899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49440" y="3771899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Skill cost is a property of skill × model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60" y="4087367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49440" y="4087367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Skill selection is reliable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09360" y="4640579"/>
            <a:ext cx="49377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4 · CONCLUSION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988051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0" y="4988051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Model selection recommendation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09360" y="5303519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49440" y="5303519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Limitations, stated plainly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5929883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Every figure in this deck also appears in results/EVALUATION.md, which carries the full detail and the reproduction steps.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ANATOMY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What a benchmark is made of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0">
                <a:solidFill>
                  <a:srgbClr val="1E2761"/>
                </a:solidFill>
                <a:latin typeface="Arial"/>
              </a:rPr>
              <a:t>Six parts. Drop any one and you have a demo, a load generator, or a number nobody can defend.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40280"/>
            <a:ext cx="347472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359152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TASKS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743200"/>
            <a:ext cx="310896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A defined unit of work, reproducible from a</a:t>
            </a:r>
          </a:p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fixed definition into a fresh workspace.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538728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6B6B6B"/>
                </a:solidFill>
                <a:latin typeface="Arial"/>
              </a:rPr>
              <a:t>tasks/&lt;id&gt;/prompt.md + workspace/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2240280"/>
            <a:ext cx="347472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2359152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PROGRAMMATIC EVALUATOR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2743200"/>
            <a:ext cx="310896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A verdict that is a command's exit code, not a</a:t>
            </a:r>
          </a:p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model's opinion. This is what makes it a benchmark.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3538728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6B6B6B"/>
                </a:solidFill>
                <a:latin typeface="Arial"/>
              </a:rPr>
              <a:t>hidden verdict/ → pytest -q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19" y="2240280"/>
            <a:ext cx="347472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9" y="2359152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CONTROLS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9" y="2743200"/>
            <a:ext cx="310896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An arm that isolates the one variable under</a:t>
            </a:r>
          </a:p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study, so an effect can be attributed to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599" y="3538728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6B6B6B"/>
                </a:solidFill>
                <a:latin typeface="Arial"/>
              </a:rPr>
              <a:t>off / on / select arms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069080"/>
            <a:ext cx="347472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59" y="4187952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REPETITION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4572000"/>
            <a:ext cx="310896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The subject is non-deterministic, so one run is</a:t>
            </a:r>
          </a:p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an anecdote. Report medians and spread.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59" y="5367528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6B6B6B"/>
                </a:solidFill>
                <a:latin typeface="Arial"/>
              </a:rPr>
              <a:t>n per cell, CV reported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4069080"/>
            <a:ext cx="347472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4187952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ATTRIBUTION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4572000"/>
            <a:ext cx="310896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Evidence of what ACTUALLY ran, so a result from</a:t>
            </a:r>
          </a:p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something other than the thing tested is caught.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5367528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6B6B6B"/>
                </a:solidFill>
                <a:latin typeface="Arial"/>
              </a:rPr>
              <a:t>stream-json transcript → confounds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19" y="4069080"/>
            <a:ext cx="3474720" cy="1645920"/>
          </a:xfrm>
          <a:prstGeom prst="roundRect">
            <a:avLst/>
          </a:prstGeom>
          <a:solidFill>
            <a:srgbClr val="CADCFC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599" y="4187952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OBSERVABILITY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599" y="4572000"/>
            <a:ext cx="310896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What it cost: tokens by cache tier, latency, the</a:t>
            </a:r>
          </a:p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real model served. Measured, not estimated.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599" y="5367528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6B6B6B"/>
                </a:solidFill>
                <a:latin typeface="Arial"/>
              </a:rPr>
              <a:t>Cortex supplies this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943600"/>
            <a:ext cx="10241280" cy="621792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Cortex is a COMPONENT of the harness — it supplies the observability data. It is not the benchmark, and it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cannot score anything: it sees bytes on the wire, never whether the work was correct.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What is being measured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0">
                <a:solidFill>
                  <a:srgbClr val="1E2761"/>
                </a:solidFill>
                <a:latin typeface="Arial"/>
              </a:rPr>
              <a:t>The subject under test is the Claude Code agent itself — not a model in isolation.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286000"/>
          <a:ext cx="1088136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1381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dimension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value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Agent under test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Claude Code CLI 2.1.257, headless (claude -p)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one prompt + a fresh workspace; 1 repetition = 1 invocation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Verdict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 command's exit code — pytest -q. No LLM judge.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Measured on the wire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tokens + cache tiers via Cortex forward proxy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Skill measured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 (2 discriminating tasks) + a no-skill control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Models priced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haiku-4-5, sonnet-4-6, sonnet-5, opus-5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120640"/>
            <a:ext cx="1088136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1">
                <a:solidFill>
                  <a:srgbClr val="B85042"/>
                </a:solidFill>
                <a:latin typeface="Arial"/>
              </a:rPr>
              <a:t>No LLM judge is the load-bearing choice: without a programmatic verdict this is a</a:t>
            </a:r>
          </a:p>
          <a:p>
            <a:pPr algn="l"/>
            <a:r>
              <a:rPr sz="1400" b="1">
                <a:solidFill>
                  <a:srgbClr val="B85042"/>
                </a:solidFill>
                <a:latin typeface="Arial"/>
              </a:rPr>
              <a:t>load generator, not a benchmark.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VOCABULARY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Terms in use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Arial"/>
              </a:rPr>
              <a:t>These were conflated early in the work; they are kept strictly separate.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194560"/>
          <a:ext cx="10881360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5039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term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meaning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Harness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the whole apparatus: tasks + driver + verdict + Cortex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Arm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off = skill unavailable (control) · on = skill invoked · select = none named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Cell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one (task × arm × model), measured over n repetitions — e.g. xlsx-fin-colors / ON / sonnet-5, n=8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Task / repetition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ONE headless `claude -p` invocation in a fresh workspace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LLM call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ONE /v1/chat/completions on the wire. A task makes SEVERAL — 5 to 24 here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Compliance task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ordinary request; hidden verdict checks a skill convention was followed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Selection task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names no skill; verdict is whether the model chose the right one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Confound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a repetition whose measurement is untrustworthy — reported, never averaged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Token-efficiency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tokens consumed per SOLVED task — what the context window and rate limits see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Cost-efficiency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dollars per SOLVED task — token-efficiency weighted by that model's unit price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Cost per solved task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median ÷ pass rate, so a model is charged for its failures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843016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‘workload-harness’ (hyphenated) is a proper noun for an unrelated upstream project — never used here as a common noun.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Benchmarking setup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103120" cy="86868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harness.py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driver · run lock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71800"/>
            <a:ext cx="2103120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B2B2B"/>
                </a:solidFill>
                <a:latin typeface="Arial"/>
              </a:rPr>
              <a:t>fresh workspace</a:t>
            </a:r>
          </a:p>
          <a:p>
            <a:pPr algn="ctr"/>
            <a:r>
              <a:rPr sz="1100" b="0">
                <a:solidFill>
                  <a:srgbClr val="2B2B2B"/>
                </a:solidFill>
                <a:latin typeface="Arial"/>
              </a:rPr>
              <a:t>copied per repetition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977639"/>
            <a:ext cx="2103120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B2B2B"/>
                </a:solidFill>
                <a:latin typeface="Arial"/>
              </a:rPr>
              <a:t>hidden verdict/</a:t>
            </a:r>
          </a:p>
          <a:p>
            <a:pPr algn="ctr"/>
            <a:r>
              <a:rPr sz="1100" b="0">
                <a:solidFill>
                  <a:srgbClr val="2B2B2B"/>
                </a:solidFill>
                <a:latin typeface="Arial"/>
              </a:rPr>
              <a:t>installed AFTER exit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828800"/>
            <a:ext cx="2194560" cy="1234440"/>
          </a:xfrm>
          <a:prstGeom prst="roundRect">
            <a:avLst/>
          </a:prstGeom>
          <a:solidFill>
            <a:srgbClr val="CADCFC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B2B2B"/>
                </a:solidFill>
                <a:latin typeface="Arial"/>
              </a:rPr>
              <a:t>claude -p</a:t>
            </a:r>
          </a:p>
          <a:p>
            <a:pPr algn="ctr"/>
            <a:r>
              <a:rPr sz="1300" b="1">
                <a:solidFill>
                  <a:srgbClr val="2B2B2B"/>
                </a:solidFill>
                <a:latin typeface="Arial"/>
              </a:rPr>
              <a:t>headless child</a:t>
            </a:r>
          </a:p>
          <a:p>
            <a:pPr algn="ctr"/>
            <a:r>
              <a:rPr sz="1300" b="1">
                <a:solidFill>
                  <a:srgbClr val="2B2B2B"/>
                </a:solidFill>
                <a:latin typeface="Arial"/>
              </a:rPr>
              <a:t>stream-json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08960" y="3337560"/>
            <a:ext cx="2834640" cy="914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B2B2B"/>
                </a:solidFill>
                <a:latin typeface="Arial"/>
              </a:rPr>
              <a:t>clean child env</a:t>
            </a:r>
          </a:p>
          <a:p>
            <a:pPr algn="ctr"/>
            <a:r>
              <a:rPr sz="1000" b="0">
                <a:solidFill>
                  <a:srgbClr val="2B2B2B"/>
                </a:solidFill>
                <a:latin typeface="Arial"/>
              </a:rPr>
              <a:t>HTTPS_PROXY · NODE_EXTRA_CA_CERTS</a:t>
            </a:r>
          </a:p>
          <a:p>
            <a:pPr algn="ctr"/>
            <a:r>
              <a:rPr sz="1000" b="0">
                <a:solidFill>
                  <a:srgbClr val="2B2B2B"/>
                </a:solidFill>
                <a:latin typeface="Arial"/>
              </a:rPr>
              <a:t>CLAUDE_CONFIG_DIR · --model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828800"/>
            <a:ext cx="2468880" cy="1234440"/>
          </a:xfrm>
          <a:prstGeom prst="roundRect">
            <a:avLst/>
          </a:prstGeom>
          <a:solidFill>
            <a:srgbClr val="CADCFC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B2B2B"/>
                </a:solidFill>
                <a:latin typeface="Arial"/>
              </a:rPr>
              <a:t>Cortex (local service)</a:t>
            </a:r>
          </a:p>
          <a:p>
            <a:pPr algn="ctr"/>
            <a:r>
              <a:rPr sz="1100" b="1">
                <a:solidFill>
                  <a:srgbClr val="2B2B2B"/>
                </a:solidFill>
                <a:latin typeface="Arial"/>
              </a:rPr>
              <a:t>forward proxy + tls_bridge</a:t>
            </a:r>
          </a:p>
          <a:p>
            <a:pPr algn="ctr"/>
            <a:r>
              <a:rPr sz="1100" b="1">
                <a:solidFill>
                  <a:srgbClr val="2B2B2B"/>
                </a:solidFill>
                <a:latin typeface="Arial"/>
              </a:rPr>
              <a:t>decrypts, then inference-parser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3337560"/>
            <a:ext cx="2468880" cy="7772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0">
                <a:solidFill>
                  <a:srgbClr val="2B2B2B"/>
                </a:solidFill>
                <a:latin typeface="Arial"/>
              </a:rPr>
              <a:t>Server-Sent Events stream</a:t>
            </a:r>
          </a:p>
          <a:p>
            <a:pPr algn="ctr"/>
            <a:r>
              <a:rPr sz="950" b="0">
                <a:solidFill>
                  <a:srgbClr val="2B2B2B"/>
                </a:solidFill>
                <a:latin typeface="Arial"/>
              </a:rPr>
              <a:t>GET /v1/events → disk</a:t>
            </a:r>
          </a:p>
          <a:p>
            <a:pPr algn="ctr"/>
            <a:r>
              <a:rPr sz="950" b="0">
                <a:solidFill>
                  <a:srgbClr val="2B2B2B"/>
                </a:solidFill>
                <a:latin typeface="Arial"/>
              </a:rPr>
              <a:t>(store is in-memory, 30-min TTL)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01200" y="1828800"/>
            <a:ext cx="1737360" cy="86868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LiteLLM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gateway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1200" y="3017520"/>
            <a:ext cx="1737360" cy="5486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model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743200" y="2258568"/>
            <a:ext cx="685800" cy="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2770632" y="1984248"/>
            <a:ext cx="630936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000" b="0">
                <a:solidFill>
                  <a:srgbClr val="6B6B6B"/>
                </a:solidFill>
                <a:latin typeface="Arial"/>
              </a:rPr>
              <a:t>spawn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91640" y="2697480"/>
            <a:ext cx="0" cy="27432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691640" y="3703320"/>
            <a:ext cx="0" cy="274319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623560" y="2441448"/>
            <a:ext cx="777240" cy="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650992" y="2167128"/>
            <a:ext cx="722375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000" b="0">
                <a:solidFill>
                  <a:srgbClr val="6B6B6B"/>
                </a:solidFill>
                <a:latin typeface="Arial"/>
              </a:rPr>
              <a:t>CONNECT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869680" y="2258568"/>
            <a:ext cx="731520" cy="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897111" y="1984248"/>
            <a:ext cx="676656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000" b="0">
                <a:solidFill>
                  <a:srgbClr val="6B6B6B"/>
                </a:solidFill>
                <a:latin typeface="Arial"/>
              </a:rPr>
              <a:t>HTTPS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0469880" y="2697480"/>
            <a:ext cx="0" cy="32004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526280" y="3063240"/>
            <a:ext cx="0" cy="27432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635240" y="3063240"/>
            <a:ext cx="0" cy="27432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40080" y="5074920"/>
            <a:ext cx="10698480" cy="502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E2761"/>
                </a:solidFill>
                <a:latin typeface="Arial"/>
              </a:rPr>
              <a:t>one NDJSON row per repetition   ·   whitelisted fields only, never raw prompts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623560"/>
            <a:ext cx="11155680" cy="9144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0">
                <a:solidFill>
                  <a:srgbClr val="6B6B6B"/>
                </a:solidFill>
                <a:latin typeface="Arial"/>
              </a:rPr>
              <a:t>Three measurement sources, because none can answer another’s question: the verdict says whether it worked, Cortex says what</a:t>
            </a:r>
          </a:p>
          <a:p>
            <a:pPr algn="l">
              <a:spcAft>
                <a:spcPts val="100"/>
              </a:spcAft>
            </a:pPr>
            <a:r>
              <a:rPr sz="1150" b="0">
                <a:solidFill>
                  <a:srgbClr val="6B6B6B"/>
                </a:solidFill>
                <a:latin typeface="Arial"/>
              </a:rPr>
              <a:t>it cost, the transcript says which tools and skills actually ran.</a:t>
            </a:r>
          </a:p>
          <a:p>
            <a:pPr algn="l">
              <a:spcAft>
                <a:spcPts val="100"/>
              </a:spcAft>
            </a:pPr>
            <a:r>
              <a:rPr sz="1150" b="0">
                <a:solidFill>
                  <a:srgbClr val="6B6B6B"/>
                </a:solidFill>
                <a:latin typeface="Arial"/>
              </a:rPr>
              <a:t>Transport: HTTPS_PROXY is named “https” but its value is http://127.0.0.1:47600 — the hop to the local Cortex service is plaintext</a:t>
            </a:r>
          </a:p>
          <a:p>
            <a:pPr algn="l">
              <a:spcAft>
                <a:spcPts val="100"/>
              </a:spcAft>
            </a:pPr>
            <a:r>
              <a:rPr sz="1150" b="0">
                <a:solidFill>
                  <a:srgbClr val="6B6B6B"/>
                </a:solidFill>
                <a:latin typeface="Arial"/>
              </a:rPr>
              <a:t>HTTP CONNECT on loopback. tls_bridge then terminates TLS with its own CA (hence NODE_EXTRA_CA_CERTS) so the request can be</a:t>
            </a:r>
          </a:p>
          <a:p>
            <a:pPr algn="l">
              <a:spcAft>
                <a:spcPts val="100"/>
              </a:spcAft>
            </a:pPr>
            <a:r>
              <a:rPr sz="1150" b="0">
                <a:solidFill>
                  <a:srgbClr val="6B6B6B"/>
                </a:solidFill>
                <a:latin typeface="Arial"/>
              </a:rPr>
              <a:t>parsed, and Cortex makes the real HTTPS connection outbound to the gateway.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RATIONALE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Why this shape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59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7955279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decision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rationale — each one was measured, not assumed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Per-invocation isolation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operator settings.json never touched; one Cortex sees ALL machine traffic, so global wiring would let interactive typing pollute a run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Forward proxy + tls_bridge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the reverse role records events but leaves plugins=[] — no tokens. Only forward+bridge dispatches the parser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CLAUDE_CONFIG_DIR, not HOME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HOME is not the skill lookup root; four curated-HOME arms reported an identical 60 slash commands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Pin --model, verify on wire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the model actually used came from an ambient env var disagreeing with settings.json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Exclusive run lock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Cortex correlates by TIME WINDOW on a shared proxy, so overlapping runs interleave — observed, then made impossible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Whitelisted artefacts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Cortex events carry full prompts and completions on an unauthenticated API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How a task earns its place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1">
                <a:solidFill>
                  <a:srgbClr val="B85042"/>
                </a:solidFill>
                <a:latin typeface="Arial"/>
              </a:rPr>
              <a:t>9 of the first 11 tasks written were discarded. A discarded task is a result.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5120640" cy="17373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RULE 1 — tamper-proof, not merely green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Pass requires exit 0 AND every test file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byte-identical to what shipped.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Deleting the test, or rewriting it to assert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the bug, also makes pytest green.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2286000"/>
            <a:ext cx="5120640" cy="17373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RULE 2 — pre-screen on the OFF arm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A task the agent already passes WITHOUT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the skill is not measuring the skill.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Hidden verdicts: a visible test is a spec —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the agent reads it and both arms pass.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0624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Arial"/>
              </a:rPr>
              <a:t>The reusable heuristic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4572000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5852160"/>
                <a:gridCol w="21945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rule kind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example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outcome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Arbitrary / house-specific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xlsx: blue text = hardcoded input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C5F2D"/>
                          </a:solidFill>
                          <a:latin typeface="Arial"/>
                        </a:rPr>
                        <a:t>DISCRIMINATES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Objectively better practice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docx: real bullets · pptx: size hierarchy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B85042"/>
                          </a:solidFill>
                          <a:latin typeface="Arial"/>
                        </a:rPr>
                        <a:t>passes unaided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Path-dependent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docx rules correct footguns in the library the skill itself mandates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B85042"/>
                          </a:solidFill>
                          <a:latin typeface="Arial"/>
                        </a:rPr>
                        <a:t>cannot discriminate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THE EVALUATOR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What the verdict actually is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E2761"/>
                </a:solidFill>
                <a:latin typeface="Arial"/>
              </a:rPr>
              <a:t>Plain pytest, run by the repo's own interpreter. A pass needs exit 0 AND every test file byte-identical</a:t>
            </a:r>
          </a:p>
          <a:p>
            <a:pPr algn="l"/>
            <a:r>
              <a:rPr sz="1400" b="0">
                <a:solidFill>
                  <a:srgbClr val="1E2761"/>
                </a:solidFill>
                <a:latin typeface="Arial"/>
              </a:rPr>
              <a:t>to what shipped — deleting the test, or rewriting it to assert the bug, also makes pytest green.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468880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468880"/>
                <a:gridCol w="2194560"/>
                <a:gridCol w="39319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verdict file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visible to agent?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asserts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cortex-pyfix-001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workspace/test_billing.py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YES — tests ARE the spec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6 tests over 2 seeded bugs: a percentage treated as a fraction, and a dropped remainder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xlsx-fin-colors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verdict/test_compliance.py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no — installed after exit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2 tests: hardcoded inputs are blue-font; formula cells are not blue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xlsx-fin-font-clean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verdict/test_compliance.py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no — installed after exit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3 tests: one consistent professional font; no #REF!-class literals; saving and ratio are formulas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4480560"/>
            <a:ext cx="10241280" cy="91440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The visible / hidden split is the load-bearing choice. cortex-pyfix SHOULD show its tests, because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satisfying them is the task. A COMPLIANCE verdict must stay hidden — it enumerates the conventions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being checked, so an agent that can read it simply complies and BOTH arms pass, measuring nothing.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577840"/>
            <a:ext cx="10881360" cy="502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Verdicts are also tamper-checked before the hidden file is installed, so the hidden test cannot itself</a:t>
            </a:r>
          </a:p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be counted as a modification.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2 · PRICING  ·  RATE 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Model pricing — internal LiteLLM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2926080"/>
                <a:gridCol w="1554480"/>
                <a:gridCol w="1645920"/>
                <a:gridCol w="13716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benchmarked alias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gateway entry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input $/1M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output $/1M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vs sonnet-5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claude-haiku-4-5-20251001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aws/claude-haiku-4-5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0.76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3.80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0.50×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claude-sonnet-4-6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aws/claude-sonnet-4-6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2.28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11.40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1.50×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claude-sonnet-5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aws/claude-sonnet-5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1.52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7.60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1.00×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claude-opus-5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aws/claude-opus-5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3.80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19.00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B85042"/>
                          </a:solidFill>
                          <a:latin typeface="Arial"/>
                        </a:rPr>
                        <a:t>2.50×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3429000"/>
            <a:ext cx="10881360" cy="502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Transcribed by hand from the gateway model pages on 2026-09-09. That page needs interactive internal web</a:t>
            </a:r>
          </a:p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authorization and fills itself by script, so no automated pull is possible or attempted.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977639"/>
            <a:ext cx="108813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1">
                <a:solidFill>
                  <a:srgbClr val="2C5F2D"/>
                </a:solidFill>
                <a:latin typeface="Arial"/>
              </a:rPr>
              <a:t>sonnet-5 is priced at 2/3 of sonnet-4-6 — the single most consequential fact in the analysis.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43484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Arial"/>
              </a:rPr>
              <a:t>The cache caveat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754880"/>
            <a:ext cx="10881360" cy="1371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2B2B2B"/>
                </a:solidFill>
                <a:latin typeface="Arial"/>
              </a:rPr>
              <a:t>The gateway publishes only Input and Output rates, but 81–97% of our prompt tokens are CACHE READS.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2B2B2B"/>
                </a:solidFill>
                <a:latin typeface="Arial"/>
              </a:rPr>
              <a:t>  Scenario A — no discount: every prompt token at the Input rate (upper bound)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2B2B2B"/>
                </a:solidFill>
                <a:latin typeface="Arial"/>
              </a:rPr>
              <a:t>  Scenario B — standard Anthropic/Bedrock convention: cacheRead ×0.10, cacheWrite ×1.25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2B2B2B"/>
                </a:solidFill>
                <a:latin typeface="Arial"/>
              </a:rPr>
              <a:t>B lands ~4–5× below A. Which the gateway actually bills is UNVERIFIED.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2B2B2B"/>
                </a:solidFill>
                <a:latin typeface="Arial"/>
              </a:rPr>
              <a:t>The model ranking is identical under both, so the recommendation does not depend on resolving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1 · PASS RATE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A prediction of ours that was falsified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We argued a compliance task cannot rank models: the OFF arm is pinned at 0 by the pre-screen and the ON</a:t>
            </a:r>
          </a:p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arm at 100 because the skill states the answer. That held only for the two mid-tier models we had tested.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606040"/>
          <a:ext cx="108813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389120"/>
                <a:gridCol w="429768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xlsx-fin-colors  OFF → ON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xlsx-fin-font-clean  OFF → ON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B85042"/>
                          </a:solidFill>
                          <a:latin typeface="Arial"/>
                        </a:rPr>
                        <a:t>0.00 → 0.40   ← fails even when TOLD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sonnet-4-6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0.20 → 1.00   ← knows it UNAIDED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4480560"/>
            <a:ext cx="10698480" cy="86868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“The measure is saturated” is a claim about the models you happened to test —</a:t>
            </a:r>
          </a:p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not a claim about the task.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2 · DECOMPOSITION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Two factors drive token cost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719072"/>
            <a:ext cx="10698480" cy="71323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E2761"/>
                </a:solidFill>
                <a:latin typeface="Arial"/>
              </a:rPr>
              <a:t>tokens per task   =   tokens per LLM CALL   ×   LLM calls per task</a:t>
            </a:r>
          </a:p>
          <a:p>
            <a:pPr algn="ctr"/>
            <a:r>
              <a:rPr sz="1500" b="1">
                <a:solidFill>
                  <a:srgbClr val="1E2761"/>
                </a:solidFill>
                <a:latin typeface="Arial"/>
              </a:rPr>
              <a:t>                              (a MODEL property)              (a TASK property)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87168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Factor 1 — tokens per LLM call: ratio vs sonnet-4-6, across five structurally different cells.</a:t>
            </a:r>
          </a:p>
          <a:p>
            <a:pPr algn="l">
              <a:spcAft>
                <a:spcPts val="1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“spread” = highest ratio minus lowest. Small spread means the ratio is a property of the MODEL, not of the task</a:t>
            </a:r>
          </a:p>
          <a:p>
            <a:pPr algn="l">
              <a:spcAft>
                <a:spcPts val="1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(≤0.15 is reported as CONSTANT).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3310128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377440"/>
                <a:gridCol w="1554480"/>
                <a:gridCol w="475488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range across the 5 cells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spread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reading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0.97 – 1.04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0.07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≈ same context per LLM call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1.18 – 1.24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≈1.21× more per LLM call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0.88 – 0.93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≈0.90× — leaner per LLM call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617720"/>
            <a:ext cx="108813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1">
                <a:solidFill>
                  <a:srgbClr val="B85042"/>
                </a:solidFill>
                <a:latin typeface="Arial"/>
              </a:rPr>
              <a:t>Factor 2 — LLM calls per task: NOT constant. 0.40–1.00× for haiku, 0.83–2.00× for opus-5, by task.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983480"/>
            <a:ext cx="10698480" cy="6858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1E2761"/>
                </a:solidFill>
                <a:latin typeface="Arial"/>
              </a:rPr>
              <a:t>One TASK is one `claude -p` run making SEVERAL LLM calls (2–29), each re-sending the growing conversation.</a:t>
            </a:r>
          </a:p>
          <a:p>
            <a:pPr algn="ctr"/>
            <a:r>
              <a:rPr sz="1250" b="1">
                <a:solidFill>
                  <a:srgbClr val="1E2761"/>
                </a:solidFill>
                <a:latin typeface="Arial"/>
              </a:rPr>
              <a:t>A raw token total multiplies the two factors and hides both.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5216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That re-sending is also why cache reads are 81–97% of prompt tokens in every cell.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3 · COST PER SOLVED TASK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Money reverses the token 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Arial"/>
              </a:rPr>
              <a:t>$ per SOLVED task (scenario B). Cost per solved = median tokens ÷ pass rate, so failures are charged.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148840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828800"/>
                <a:gridCol w="1828800"/>
                <a:gridCol w="1828800"/>
                <a:gridCol w="18288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sonnet-4-6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xlsx-fin-colors (ON)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0.0386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0.1746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0.1608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B85042"/>
                          </a:solidFill>
                          <a:latin typeface="Arial"/>
                        </a:rPr>
                        <a:t>0.2719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xlsx-fin-font-clean (ON)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0.1075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0.1896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0.1261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B85042"/>
                          </a:solidFill>
                          <a:latin typeface="Arial"/>
                        </a:rPr>
                        <a:t>0.2486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cortex-pyfix-001 (no skill)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0.0313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0.0839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0.0588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B85042"/>
                          </a:solidFill>
                          <a:latin typeface="Arial"/>
                        </a:rPr>
                        <a:t>0.1030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3703320"/>
            <a:ext cx="5120640" cy="82296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opus-5 used the FEWEST tokens on two of three cells —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and is the MOST EXPENSIVE on all three.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3703320"/>
            <a:ext cx="5120640" cy="82296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sonnet-5 uses MORE tokens than sonnet-4-6 yet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costs LESS on all three cells here, at 2/3 the unit price.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63440"/>
            <a:ext cx="10881360" cy="502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Same cells under scenario A (no cache discount). haiku stays cheapest and opus-5 dearest everywhere — but the two</a:t>
            </a:r>
          </a:p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sonnets SWAP on xlsx-fin-colors, so that one mid-band ordering does depend on the unverified cache assumption: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5212080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828800"/>
                <a:gridCol w="1828800"/>
                <a:gridCol w="1828800"/>
                <a:gridCol w="18288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sonnet-4-6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xlsx-fin-colors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C5F2D"/>
                          </a:solidFill>
                          <a:latin typeface="Arial"/>
                        </a:rPr>
                        <a:t>0.1409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0.6677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0.8920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B85042"/>
                          </a:solidFill>
                          <a:latin typeface="Arial"/>
                        </a:rPr>
                        <a:t>1.1625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xlsx-fin-font-clean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C5F2D"/>
                          </a:solidFill>
                          <a:latin typeface="Arial"/>
                        </a:rPr>
                        <a:t>0.3364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0.8484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0.6625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B85042"/>
                          </a:solidFill>
                          <a:latin typeface="Arial"/>
                        </a:rPr>
                        <a:t>1.1259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cortex-pyfix-001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C5F2D"/>
                          </a:solidFill>
                          <a:latin typeface="Arial"/>
                        </a:rPr>
                        <a:t>0.1597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0.4582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0.3113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B85042"/>
                          </a:solidFill>
                          <a:latin typeface="Arial"/>
                        </a:rPr>
                        <a:t>0.5649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33832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B85042"/>
                </a:solidFill>
                <a:latin typeface="Arial"/>
              </a:rPr>
              <a:t>haiku's 0.1075 already charges it for a 0.40 pass rate — it is cheapest even after paying for its failures.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4 · TWO DIFFERENT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Token-efficiency is not cost-efficiency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83080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4389120"/>
                <a:gridCol w="4389120"/>
              </a:tblGrid>
              <a:tr h="292608">
                <a:tc>
                  <a:txBody>
                    <a:bodyPr/>
                    <a:lstStyle/>
                    <a:p>
                      <a:pPr algn="l"/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token-efficiency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cost-efficiency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measures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tokens per SOLVED task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dollars per SOLVED task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binding when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context window, rate limits, latency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you are paying the bill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driven by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how much context and how many calls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the same, weighted by unit price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3200400"/>
            <a:ext cx="10881360" cy="502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Arial"/>
              </a:rPr>
              <a:t>They diverge because unit price spans 5× (haiku $0.76 → opus-5 $3.80 per 1M input), which swamps the</a:t>
            </a:r>
          </a:p>
          <a:p>
            <a:pPr algn="l"/>
            <a:r>
              <a:rPr sz="1300" b="0">
                <a:solidFill>
                  <a:srgbClr val="2B2B2B"/>
                </a:solidFill>
                <a:latin typeface="Arial"/>
              </a:rPr>
              <a:t>~2× spread in token counts. On cortex-pyfix-001 the two rankings are EXACTLY INVERTED: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3794760"/>
          <a:ext cx="10515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2377440"/>
                <a:gridCol w="1463040"/>
                <a:gridCol w="2377440"/>
                <a:gridCol w="14630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tokens/solved task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rank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$/solved task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rank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144,834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5F2D"/>
                          </a:solidFill>
                          <a:latin typeface="Arial"/>
                        </a:rPr>
                        <a:t>1st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0.1030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4th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sonnet-4-6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196,634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2nd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0.0839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3rd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200,732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3rd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0.0588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2nd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204,034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4th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0.0313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5F2D"/>
                          </a:solidFill>
                          <a:latin typeface="Arial"/>
                        </a:rPr>
                        <a:t>1st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" y="5440680"/>
            <a:ext cx="10241280" cy="73152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opus-5 is the MOST token-efficient and the LEAST cost-efficient model tested.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Quoting one number and calling it “efficiency” picks the answer by accident.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5 · MEASUREMENT INTEGRITY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A subagent's calls land in the totals — and can't be separated 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01952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84831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The child's HTTPS_PROXY is inherited by its subprocesses, so a subagent's traffic crosses the same proxy.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423160"/>
          <a:ext cx="108813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77724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measure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effect of downstream work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total tokens / dollars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5F2D"/>
                          </a:solidFill>
                          <a:latin typeface="Arial"/>
                        </a:rPr>
                        <a:t>CORRECT — the calls really happened and are really billed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tokens per LLM call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unaffected — still that model's per-call average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LLM calls per task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INFLATED — the “task” is no longer a single agent loop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any skill-overhead ratio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INVALID — it compares two different amounts of work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3950208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Magnitude where it occurred — affected repetitions vs others in the same cell: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4279392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3474720"/>
                <a:gridCol w="34747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cell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with downstream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without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pptx-body-left-aligned ON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26 calls / 1,255,632 tok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10 calls / 458,514 tok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pptx-size-contrast ON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36 calls / 1,908,134 tok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10 calls / 491,474 tok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select-deck SELECT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46 calls / 2,485,834 tok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7 calls / 302,900 tok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0080" y="5486400"/>
            <a:ext cx="10241280" cy="82296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2.7×–8.2×. The detector that should have flagged these matched a tool named `Task`, but this build names it</a:t>
            </a:r>
          </a:p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`Agent` — so it never fired and 5 repetitions passed as clean. Fixed and unit-tested. The xlsx COST PROFILE</a:t>
            </a:r>
          </a:p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is unaffected: none of the 5 fall in its 20 cells.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6 · OVERHEAD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Skill cost is a property of skill ×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502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skill-on ÷ skill-off, same skill (xlsx), same task, same model. Tokens AND dollars — they differ,</a:t>
            </a:r>
          </a:p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because the input/output/cache mix shifts between arms even at a fixed unit price.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377440"/>
          <a:ext cx="108813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828800"/>
                <a:gridCol w="1828800"/>
                <a:gridCol w="1828800"/>
                <a:gridCol w="18288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task / measure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sonnet-4-6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xlsx-fin-colors — tokens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2.88×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1.50×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2.01×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5F2D"/>
                          </a:solidFill>
                          <a:latin typeface="Arial"/>
                        </a:rPr>
                        <a:t>0.93×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xlsx-fin-colors — dollars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1.97×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1.33×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1.88×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5F2D"/>
                          </a:solidFill>
                          <a:latin typeface="Arial"/>
                        </a:rPr>
                        <a:t>1.06×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xlsx-fin-font-clean — tokens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2.37×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2.08×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1.56×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5F2D"/>
                          </a:solidFill>
                          <a:latin typeface="Arial"/>
                        </a:rPr>
                        <a:t>1.01×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xlsx-fin-font-clean — dollars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2.24×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1.71×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1.41×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5F2D"/>
                          </a:solidFill>
                          <a:latin typeface="Arial"/>
                        </a:rPr>
                        <a:t>1.08×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023360"/>
            <a:ext cx="108813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700" b="1">
                <a:solidFill>
                  <a:srgbClr val="1E2761"/>
                </a:solidFill>
                <a:latin typeface="Arial"/>
              </a:rPr>
              <a:t>“What does this skill cost?” has no single answer.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434840"/>
            <a:ext cx="10881360" cy="1645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2B2B2B"/>
                </a:solidFill>
                <a:latin typeface="Arial"/>
              </a:rPr>
              <a:t>On opus-5 the skill adds only 6–8% in dollars; on haiku it roughly doubles the bill. Opus-5 barely notices it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B2B2B"/>
                </a:solidFill>
                <a:latin typeface="Arial"/>
              </a:rPr>
              <a:t>because it already works ~2× the calls WITHOUT the skill (10 vs 8 on colors), so the guidance replaces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B2B2B"/>
                </a:solidFill>
                <a:latin typeface="Arial"/>
              </a:rPr>
              <a:t>exploration rather than adding to it. That is why its token ratio can dip below 1.0.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B2B2B"/>
                </a:solidFill>
                <a:latin typeface="Arial"/>
              </a:rPr>
              <a:t>Caveat: this rests on ONE skill. Whether the effect belongs to opus-5 or to xlsx is currently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B2B2B"/>
                </a:solidFill>
                <a:latin typeface="Arial"/>
              </a:rPr>
              <a:t>indistinguishable — three more tasks on docx / pptx / pdf would separate them.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7 · SELECTION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Skill selection is reliable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0">
                <a:solidFill>
                  <a:srgbClr val="2B2B2B"/>
                </a:solidFill>
                <a:latin typeface="Arial"/>
              </a:rPr>
              <a:t>All four candidate skills present, prompt names none, verdict read from the transcript.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Arial"/>
              </a:rPr>
              <a:t>sonnet-4-6, n=3 per task — 12/12 correct, 0 confounded.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514600"/>
          <a:ext cx="108813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3291840"/>
                <a:gridCol w="2194560"/>
                <a:gridCol w="22860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cue strength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expected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fired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select-spreadsheet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names the artifact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 ×3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select-deck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names the artifact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pptx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pptx ×3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select-implicit-sheet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never says “spreadsheet”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xlsx ×3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select-none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plain bugfix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nothing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nothing ×3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114800"/>
            <a:ext cx="1088136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A negative case is mandatory: measuring only true positives rewards a model that fires a skill on</a:t>
            </a:r>
          </a:p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everything. Consequence — these four are now too easy to discriminate; extending needs ambiguous prompts.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892040"/>
            <a:ext cx="10698480" cy="868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1E2761"/>
                </a:solidFill>
                <a:latin typeface="Arial"/>
              </a:rPr>
              <a:t>Only here is the transcript authoritative: a MODEL-SELECTED skill is a real Skill tool call,</a:t>
            </a:r>
          </a:p>
          <a:p>
            <a:pPr algn="ctr"/>
            <a:r>
              <a:rPr sz="1300" b="0">
                <a:solidFill>
                  <a:srgbClr val="1E2761"/>
                </a:solidFill>
                <a:latin typeface="Arial"/>
              </a:rPr>
              <a:t>whereas an explicit /skill-name is expanded client-side and never appears in the transcript at 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CADCFC"/>
                </a:solidFill>
                <a:latin typeface="Arial"/>
              </a:rPr>
              <a:t>4 · CONCLUSION  ·  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rial"/>
              </a:rPr>
              <a:t>Model selection 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8813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CADCFC"/>
                </a:solidFill>
                <a:latin typeface="Arial"/>
              </a:rPr>
              <a:t>on the benchmark evidence, for skill-driven document 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3383280" cy="2606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ADOPT AS DEFAULT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claude-sonnet-5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100% pass on every task, and cheaper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than sonnet-4-6 on all 3 cells (scenario B)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— 33% on font-clean, 30% on the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canary, 8% on colors — despite using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MORE tokens. 2/3 unit price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absorbs 1.21×/call.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828800"/>
            <a:ext cx="3383280" cy="2606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ONLY WITH A VALIDATOR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claude-haiku-4-5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Most cost-efficient everywhere,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by 1.2–4.2× over the next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cheapest, and fastest. But it failed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3 of 5 WITH the skill supplied —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and one failure hardcoded values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instead of formulas, which LOOKS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correct. Retry only works if you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can detect the failure.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1828800"/>
            <a:ext cx="3383280" cy="2606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NOT INDICATED HERE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claude-opus-5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Most expensive in all three cells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(1.7–2.0× sonnet-5, scenario B), no pass-rate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advantage. Genuinely the most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token-efficient and the only model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to solve a task unaided — may earn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its premium on harder work.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663440"/>
            <a:ext cx="1088136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CADCFC"/>
                </a:solidFill>
                <a:latin typeface="Arial"/>
              </a:rPr>
              <a:t>Confidence: pass rates, the cheapest/dearest ordering and the token/cost inversion all hold across BOTH pricing</a:t>
            </a:r>
          </a:p>
          <a:p>
            <a:pPr algn="l"/>
            <a:r>
              <a:rPr sz="1300" b="0">
                <a:solidFill>
                  <a:srgbClr val="CADCFC"/>
                </a:solidFill>
                <a:latin typeface="Arial"/>
              </a:rPr>
              <a:t>scenarios; tokens/call holds across five independent cells. Absolute dollar figures are indicative — n=5 per cell,</a:t>
            </a:r>
          </a:p>
          <a:p>
            <a:pPr algn="l"/>
            <a:r>
              <a:rPr sz="1300" b="0">
                <a:solidFill>
                  <a:srgbClr val="CADCFC"/>
                </a:solidFill>
                <a:latin typeface="Arial"/>
              </a:rPr>
              <a:t>cache billing unverified, and one mid-band pair (the two sonnets on xlsx-fin-colors) swaps between scenarios.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9AB0D8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4 · CONCLUSION  ·  WHAT WOULD CHANGE THE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Limitations, stated plainly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6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73152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limitation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consequence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One skill (xlsx)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every skill-specific conclusion is xlsx-specific; “free on opus-5” may be an xlsx property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n = 5 per cell (20 cells), CV to 0.85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tokens/call constants are solid (5 cells agree); a single cell's median is indicative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Cache billing unverified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4–5× on ABSOLUTE cost; no headline ranking changes, but the two sonnets swap on colors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Two tasks, one narrow genre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financial-spreadsheet formatting. Not a general coding benchmark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aws/ vs bare alias pricing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assumed identical; unprovable with a non-admin key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Wall-clock not load-controlled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gateway-dependent; treat as indicative only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114800"/>
            <a:ext cx="10881360" cy="9144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Arial"/>
              </a:rPr>
              <a:t>If the gateway does NOT discount cache reads, absolute costs rise ~4–5× and cache-heavy agentic use becomes far</a:t>
            </a:r>
          </a:p>
          <a:p>
            <a:pPr algn="l"/>
            <a:r>
              <a:rPr sz="1300" b="0">
                <a:solidFill>
                  <a:srgbClr val="2B2B2B"/>
                </a:solidFill>
                <a:latin typeface="Arial"/>
              </a:rPr>
              <a:t>more expensive in aggregate — the ranking survives, but budget planning changes materially. If harder tasks were</a:t>
            </a:r>
          </a:p>
          <a:p>
            <a:pPr algn="l"/>
            <a:r>
              <a:rPr sz="1300" b="0">
                <a:solidFill>
                  <a:srgbClr val="2B2B2B"/>
                </a:solidFill>
                <a:latin typeface="Arial"/>
              </a:rPr>
              <a:t>added, haiku’s reliability gap would likely widen and opus-5 might start earning its premium.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6692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Arial"/>
              </a:rPr>
              <a:t>Full detail, every figure and the reproduction steps: results/EVALUATION.md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