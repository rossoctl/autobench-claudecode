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rial"/>
              </a:rPr>
              <a:t>Benchmarking Claude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000" b="0">
                <a:solidFill>
                  <a:srgbClr val="CADCFC"/>
                </a:solidFill>
                <a:latin typeface="Arial"/>
              </a:rPr>
              <a:t>Cost, skill effect and model selection — measured, priced, and where it</a:t>
            </a:r>
          </a:p>
          <a:p>
            <a:pPr algn="l"/>
            <a:r>
              <a:rPr sz="2000" b="0">
                <a:solidFill>
                  <a:srgbClr val="CADCFC"/>
                </a:solidFill>
                <a:latin typeface="Arial"/>
              </a:rPr>
              <a:t>surprised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9AB0D8"/>
                </a:solidFill>
                <a:latin typeface="Arial"/>
              </a:rPr>
              <a:t>209 recorded repetitions  ·  149 in the cost grid (18 cells n=5, 2 at n≈30)  ·  4 models  ·  IBM Research ETE LiteLLM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69280"/>
            <a:ext cx="100584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7A8FC0"/>
                </a:solidFill>
                <a:latin typeface="Arial"/>
              </a:rPr>
              <a:t>Last modified 2026-09-24 11:56 EDT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9AB0D8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47088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1 · SETUP AND 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What a benchmark is made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10028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510028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What is being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25496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825496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Terms in use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40963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140963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Benchmarking setup —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56431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456431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How one repetition actually runs —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7189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77189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Why this shape — rationale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087367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087367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How a task earns its place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02835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02835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What the verdict actually 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956047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2 · PRICING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30351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30351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Model pricing — the gateway rate card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1847088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3 · FINDINGS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19456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2194560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A prediction of ours that was falsified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510028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510028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Two factors drive token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825496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825496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Money reverses the token conclusion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140963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3140963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Token-efficiency is not cost-efficiency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456431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3456431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A subagent's calls land in the totals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377189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377189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Skill cost is a property of skill ×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4087367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4087367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Skill selection is reliable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4640579"/>
            <a:ext cx="49377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4 · CONCLUSION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4988051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19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988051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Model selection recommendation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5303519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350" b="1">
                <a:solidFill>
                  <a:srgbClr val="CADCFC"/>
                </a:solidFill>
                <a:latin typeface="Arial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303519"/>
            <a:ext cx="44805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Arial"/>
              </a:rPr>
              <a:t>Limitations, stated plainly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5929883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Every figure in this deck also appears in results/EVALUATION.md, which carries the full detail and the reproduction steps.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What a benchmark is made of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1E2761"/>
                </a:solidFill>
                <a:latin typeface="Arial"/>
              </a:rPr>
              <a:t>Six parts. Drop any one and you have a demo, a load generator, or a number nobody can defend.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TASKS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7432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 defined unit of work, reproducible from a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fixed definition into a fresh workspace.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tasks/&lt;id&gt;/prompt.md + workspace/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22402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PROGRAMMATIC EVALUATOR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7432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 verdict that is a command's exit code, not a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model's opinion. This is what makes it a benchmark.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hidden verdict/ → pytest -q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22402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23591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7432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An arm that isolates the one variable under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study, so an effect can be attributed to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9" y="35387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off / on / select arms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0690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1879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REPETITION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5720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The subject is non-deterministic, so one run is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an anecdote. Report medians and spread.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59" y="53675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n per cell, CV reported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069080"/>
            <a:ext cx="3474720" cy="1645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1879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ATTRIBUTION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5720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Evidence of what ACTUALLY ran, so a result from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something other than the thing tested is caught.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53675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stream-json transcript → confounds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4069080"/>
            <a:ext cx="3474720" cy="1645920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599" y="4187952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1E2761"/>
                </a:solidFill>
                <a:latin typeface="Arial"/>
              </a:rPr>
              <a:t>OBSERVABILITY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4572000"/>
            <a:ext cx="3108960" cy="685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What it cost: tokens by cache tier, latency, the</a:t>
            </a:r>
          </a:p>
          <a:p>
            <a:pPr algn="l"/>
            <a:r>
              <a:rPr sz="1100" b="0">
                <a:solidFill>
                  <a:srgbClr val="2B2B2B"/>
                </a:solidFill>
                <a:latin typeface="Arial"/>
              </a:rPr>
              <a:t>real model served. Measured, not estimated.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5367528"/>
            <a:ext cx="3108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Arial"/>
              </a:rPr>
              <a:t>Cortex supplies this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943600"/>
            <a:ext cx="10241280" cy="621792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Cortex is a COMPONENT of the harness — it supplies the observability data. It is not the benchmark, and it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cannot score anything: it sees bytes on the wire, never whether the work was correct.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What is being measured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1E2761"/>
                </a:solidFill>
                <a:latin typeface="Arial"/>
              </a:rPr>
              <a:t>The subject under test is the Claude Code agent itself — not a model in isolation.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286000"/>
          <a:ext cx="1088136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1381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dimension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Agent under test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 Code CLI 2.1.257, headless (claude -p)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one prompt + a fresh workspace; 1 repetition = 1 invocation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Verdict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 command's exit code — pytest -q. No LLM judge.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Measured on the wire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tokens + cache tiers via Cortex forward proxy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Skill measured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 (2 discriminating tasks) + a no-skill control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Models priced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haiku-4-5, sonnet-4-6, sonnet-5, 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12064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B85042"/>
                </a:solidFill>
                <a:latin typeface="Arial"/>
              </a:rPr>
              <a:t>No LLM judge is the load-bearing choice: without a programmatic verdict this is a</a:t>
            </a:r>
          </a:p>
          <a:p>
            <a:pPr algn="l"/>
            <a:r>
              <a:rPr sz="1400" b="1">
                <a:solidFill>
                  <a:srgbClr val="B85042"/>
                </a:solidFill>
                <a:latin typeface="Arial"/>
              </a:rPr>
              <a:t>load generator, not a benchmark.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VOCABULARY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Terms in use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These were conflated early in the work; they are kept strictly separate.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94560"/>
          <a:ext cx="10881360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5039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term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meaning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Harness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the whole apparatus: tasks + driver + verdict + Cortex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Arm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off = skill unavailable (control) · on = skill invoked · select = none named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Cell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one (task × arm × model), measured over n repetitions — e.g. xlsx-fin-colors / ON / sonnet-5, n=5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Task / repetition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ONE headless `claude -p` invocation in a fresh workspace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LLM call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ONE /v1/chat/completions on the wire. A task makes SEVERAL — 2 to 29 here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Compliance task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ordinary request; hidden verdict checks a skill convention was followed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Selection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names no skill; verdict is whether the model chose the right one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Confound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a repetition whose measurement is untrustworthy — reported, never averaged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Token-efficiency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tokens consumed per SOLVED task — what the context window and rate limits see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Cost-efficiency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dollars per SOLVED task — token-efficiency weighted by that model's unit price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Cost per solved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50" b="0">
                          <a:solidFill>
                            <a:srgbClr val="2B2B2B"/>
                          </a:solidFill>
                          <a:latin typeface="Arial"/>
                        </a:rPr>
                        <a:t>median ÷ pass rate, so a model is charged for its failures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843016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‘workload-harness’ (hyphenated) is a proper noun for an unrelated upstream project — never used here as a common noun.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Benchmarking 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103120" cy="86868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harness.py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driver · run lock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71800"/>
            <a:ext cx="2103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fresh workspace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copied per repetition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39"/>
            <a:ext cx="2103120" cy="731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hidden verdict/</a:t>
            </a:r>
          </a:p>
          <a:p>
            <a:pPr algn="ctr"/>
            <a:r>
              <a:rPr sz="1100" b="0">
                <a:solidFill>
                  <a:srgbClr val="2B2B2B"/>
                </a:solidFill>
                <a:latin typeface="Arial"/>
              </a:rPr>
              <a:t>installed AFTER exit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194560" cy="1234440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claude -p</a:t>
            </a:r>
          </a:p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headless child</a:t>
            </a:r>
          </a:p>
          <a:p>
            <a:pPr algn="ctr"/>
            <a:r>
              <a:rPr sz="1300" b="1">
                <a:solidFill>
                  <a:srgbClr val="2B2B2B"/>
                </a:solidFill>
                <a:latin typeface="Arial"/>
              </a:rPr>
              <a:t>stream-json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3337560"/>
            <a:ext cx="283464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2B2B2B"/>
                </a:solidFill>
                <a:latin typeface="Arial"/>
              </a:rPr>
              <a:t>clean child env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Arial"/>
              </a:rPr>
              <a:t>HTTPS_PROXY · NODE_EXTRA_CA_CERTS</a:t>
            </a:r>
          </a:p>
          <a:p>
            <a:pPr algn="ctr"/>
            <a:r>
              <a:rPr sz="1000" b="0">
                <a:solidFill>
                  <a:srgbClr val="2B2B2B"/>
                </a:solidFill>
                <a:latin typeface="Arial"/>
              </a:rPr>
              <a:t>CLAUDE_CONFIG_DIR · --model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2468880" cy="1234440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Cortex (local service)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forward proxy + tls_bridge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decrypts, then inference-parser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2468880" cy="777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2B2B2B"/>
                </a:solidFill>
                <a:latin typeface="Arial"/>
              </a:rPr>
              <a:t>Server-Sent Events stream</a:t>
            </a:r>
          </a:p>
          <a:p>
            <a:pPr algn="ctr"/>
            <a:r>
              <a:rPr sz="950" b="0">
                <a:solidFill>
                  <a:srgbClr val="2B2B2B"/>
                </a:solidFill>
                <a:latin typeface="Arial"/>
              </a:rPr>
              <a:t>GET /v1/events → disk</a:t>
            </a:r>
          </a:p>
          <a:p>
            <a:pPr algn="ctr"/>
            <a:r>
              <a:rPr sz="950" b="0">
                <a:solidFill>
                  <a:srgbClr val="2B2B2B"/>
                </a:solidFill>
                <a:latin typeface="Arial"/>
              </a:rPr>
              <a:t>(store is in-memory, 30-min TTL)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1737360" cy="86868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LiteLLM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gateway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3017520"/>
            <a:ext cx="173736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model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743200" y="2258568"/>
            <a:ext cx="685800" cy="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770632" y="1984248"/>
            <a:ext cx="630936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Arial"/>
              </a:rPr>
              <a:t>spawn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91640" y="2697480"/>
            <a:ext cx="0" cy="27432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691640" y="3703320"/>
            <a:ext cx="0" cy="274319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623560" y="2441448"/>
            <a:ext cx="777240" cy="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50992" y="2167128"/>
            <a:ext cx="722375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Arial"/>
              </a:rPr>
              <a:t>CONNECT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69680" y="2258568"/>
            <a:ext cx="731520" cy="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897111" y="1984248"/>
            <a:ext cx="676656" cy="228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6B6B6B"/>
                </a:solidFill>
                <a:latin typeface="Arial"/>
              </a:rPr>
              <a:t>HTTPS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469880" y="2697480"/>
            <a:ext cx="0" cy="32004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26280" y="3063240"/>
            <a:ext cx="0" cy="27432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635240" y="3063240"/>
            <a:ext cx="0" cy="274320"/>
          </a:xfrm>
          <a:prstGeom prst="bentConnector3">
            <a:avLst/>
          </a:prstGeom>
          <a:ln w="22225">
            <a:solidFill>
              <a:srgbClr val="1E27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40080" y="5074920"/>
            <a:ext cx="10698480" cy="502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1E2761"/>
                </a:solidFill>
                <a:latin typeface="Arial"/>
              </a:rPr>
              <a:t>one NDJSON row per repetition   ·   whitelisted fields only, never raw prompts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23560"/>
            <a:ext cx="1115568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Three measurement sources, because none can answer another’s question: the verdict says whether it worked, Cortex says what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it cost, the transcript says which tools and skills actually ran.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Transport: HTTPS_PROXY is named “https” but its value is http://127.0.0.1:47600 — the hop to the local Cortex service is plaintext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HTTP CONNECT on loopback. tls_bridge then terminates TLS with its own CA (hence NODE_EXTRA_CA_CERTS) so the request can be</a:t>
            </a:r>
          </a:p>
          <a:p>
            <a:pPr algn="l">
              <a:spcAft>
                <a:spcPts val="100"/>
              </a:spcAft>
            </a:pPr>
            <a:r>
              <a:rPr sz="1150" b="0">
                <a:solidFill>
                  <a:srgbClr val="6B6B6B"/>
                </a:solidFill>
                <a:latin typeface="Arial"/>
              </a:rPr>
              <a:t>parsed, and Cortex makes the real HTTPS connection outbound to the gateway.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How one repetition actually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64792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1E2761"/>
                </a:solidFill>
                <a:latin typeface="Arial"/>
              </a:rPr>
              <a:t>Two streams leave the child by different routes, and nothing carries an id common to both.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66543"/>
            <a:ext cx="1920240" cy="402336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harness.py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2066543"/>
            <a:ext cx="1920240" cy="402336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claude -p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headless child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61772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675120" y="2066543"/>
            <a:ext cx="1920240" cy="402336"/>
          </a:xfrm>
          <a:prstGeom prst="roundRect">
            <a:avLst/>
          </a:prstGeom>
          <a:solidFill>
            <a:srgbClr val="CADCFC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Cortex</a:t>
            </a:r>
          </a:p>
          <a:p>
            <a:pPr algn="ctr"/>
            <a:r>
              <a:rPr sz="1100" b="1">
                <a:solidFill>
                  <a:srgbClr val="2B2B2B"/>
                </a:solidFill>
                <a:latin typeface="Arial"/>
              </a:rPr>
              <a:t>local service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646919" y="2066543"/>
            <a:ext cx="1920240" cy="402336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LiteLLM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gateway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607040" y="2468879"/>
            <a:ext cx="0" cy="3566161"/>
          </a:xfrm>
          <a:prstGeom prst="bentConnector3">
            <a:avLst/>
          </a:prstGeom>
          <a:ln w="12700">
            <a:solidFill>
              <a:srgbClr val="CADC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1549908" y="2738627"/>
            <a:ext cx="100584" cy="1005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83080" y="2551175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1   flock the run lock — one run at a time on this machine, because events are correlated by TIME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00200" y="3095244"/>
            <a:ext cx="603504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691640" y="2857499"/>
            <a:ext cx="9829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2   start the event tap:   curl -sN :47601/v1/events  →  out/events/stream.sse   (confirmed with pgrep)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549908" y="3351275"/>
            <a:ext cx="100584" cy="1005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3163823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3   fresh workspace · baseline pytest must FAIL · empty CLAUDE_CONFIG_DIR, skill assembled per arm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600200" y="3854196"/>
            <a:ext cx="301752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691640" y="3470148"/>
            <a:ext cx="982980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4   t0 ← now.   spawn   claude -p --output-format stream-json --allowedTools …</a:t>
            </a:r>
          </a:p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env only:  HTTPS_PROXY=http://127.0.0.1:47600 · NODE_EXTRA_CA_CERTS · CLAUDE_CONFIG_DIR · --model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617720" y="4160520"/>
            <a:ext cx="301752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709159" y="3922776"/>
            <a:ext cx="681228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5   HTTP CONNECT on loopback → tls_bridge terminates TLS → the inference-parser sees the request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35240" y="4613148"/>
            <a:ext cx="297180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26679" y="4229100"/>
            <a:ext cx="379476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6   real HTTPS outbound — Cortex holds the upstream</a:t>
            </a:r>
          </a:p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connection, and emits request + response events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600200" y="5065776"/>
            <a:ext cx="603504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691640" y="4681728"/>
            <a:ext cx="9829800" cy="292608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7   events arrive DURING the run, on the connection opened in step 2 — the store is in-memory with a 30-min TTL,</a:t>
            </a:r>
          </a:p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so the file on disk is the only durable record.    Steps 5–7 repeat: one task is SEVERAL LLM calls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600200" y="5372100"/>
            <a:ext cx="3017520" cy="0"/>
          </a:xfrm>
          <a:prstGeom prst="bentConnector3">
            <a:avLst/>
          </a:prstGeom>
          <a:ln w="1905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91640" y="5134356"/>
            <a:ext cx="982980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8   child exits → t1 ← now, wait 4 s.   stdout NDJSON read from the pipe: tool_use, Skill calls, result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49908" y="5628132"/>
            <a:ext cx="100584" cy="100584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83080" y="5440680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9   install the hidden verdict/ ONLY NOW · test files must be byte-identical · pytest → passed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49908" y="5934456"/>
            <a:ext cx="100584" cy="100584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5747004"/>
            <a:ext cx="9738360" cy="146304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950" b="0">
                <a:solidFill>
                  <a:srgbClr val="2B2B2B"/>
                </a:solidFill>
                <a:latin typeface="Arial"/>
              </a:rPr>
              <a:t>10   join the two streams by TIME WINDOW + host:  phase==response, t0 ≤ at ≤ t1  →  tokens · one NDJSON 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108192"/>
            <a:ext cx="1024128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Why a time window and not an id: Cortex labels events with its own sessionId / requestId for the proxied connection, and nothing the child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prints references them. Hence step 1 — an unlocked second run lands in the same window, which is how a smoke test once absorbed a sweep's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  <a:latin typeface="Arial"/>
              </a:rPr>
              <a:t>events. Hence finding 5 too: a subagent inherits HTTPS_PROXY, so its calls fall inside the window and cannot be separated out.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Why this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881359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955279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decision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rationale — each one was measured, not assumed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Per-invocation isolation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operator settings.json never touched; one Cortex sees ALL machine traffic, so global wiring would let interactive typing pollute a run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Forward proxy + tls_bridge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the reverse role records events but leaves plugins=[] — no tokens. Only forward+bridge dispatches the parser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CLAUDE_CONFIG_DIR, not HOME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HOME is not the skill lookup root; four curated-HOME arms reported an identical 60 slash commands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Pin --model, verify on wire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the model actually used came from an ambient env var disagreeing with settings.json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Exclusive run lock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Cortex correlates by TIME WINDOW on a shared proxy, so overlapping runs interleave — observed, then made impossible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Whitelisted artefacts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Cortex events carry full prompts and completions on an unauthenticated API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How a task earns its 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B85042"/>
                </a:solidFill>
                <a:latin typeface="Arial"/>
              </a:rPr>
              <a:t>9 of the first 11 tasks written were discarded. A discarded task is a result.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512064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RULE 1 — tamper-proof, not merely green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Pass requires exit 0 AND every test file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byte-identical to what shipped.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Deleting the test, or rewriting it to assert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the bug, also makes pytest green.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286000"/>
            <a:ext cx="5120640" cy="17373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RULE 2 — pre-screen on the OFF arm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A task the agent already passes WITHOUT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the skill is not measuring the skill.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Hidden verdicts: a visible test is a spec —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the agent reads it and both arms 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0624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Arial"/>
              </a:rPr>
              <a:t>The reusable heuristic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57200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5852160"/>
                <a:gridCol w="219456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rule kind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example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outcome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Arbitrary / house-specific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xlsx: blue text = hardcoded input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DISCRIMINATES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Objectively better practice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docx: real bullets · pptx: size hierarchy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passes unaided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Path-dependent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docx rules correct footguns in the library the skill itself mandates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cannot discriminate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1 · SETUP AND METHOD  ·  THE EVALUATOR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What the verdict actually 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Arial"/>
              </a:rPr>
              <a:t>Plain pytest, run by the repo's own interpreter. A pass needs exit 0 AND every test file byte-identical</a:t>
            </a:r>
          </a:p>
          <a:p>
            <a:pPr algn="l"/>
            <a:r>
              <a:rPr sz="1400" b="0">
                <a:solidFill>
                  <a:srgbClr val="1E2761"/>
                </a:solidFill>
                <a:latin typeface="Arial"/>
              </a:rPr>
              <a:t>to what shipped — deleting the test, or rewriting it to assert the bug, also makes pytest green.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6888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468880"/>
                <a:gridCol w="2194560"/>
                <a:gridCol w="39319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verdict file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visible to agent?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asserts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cortex-pyfix-001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workspace/test_billing.py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YES — tests ARE the spec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6 tests over 2 seeded bugs: a percentage treated as a fraction, and a dropped remainder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xlsx-fin-colors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verdict/test_compliance.py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no — installed after exit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2 tests: hardcoded inputs are blue-font; formula cells are not blue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verdict/test_compliance.py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no — installed after exit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3 tests: one consistent professional font; no #REF!-class literals; saving and ratio are formulas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480560"/>
            <a:ext cx="10241280" cy="91440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visible / hidden split is the load-bearing choice. cortex-pyfix SHOULD show its tests, because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satisfying them is the task. A COMPLIANCE verdict must stay hidden — it enumerates the conventions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being checked, so an agent that can read it simply complies and BOTH arms pass, measuring nothing.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7784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Verdicts are also tamper-checked before the hidden file is installed, so the hidden test cannot itself</a:t>
            </a:r>
          </a:p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be counted as a modification.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2 · PRICING  ·  RATE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Model pricing — the gateway rate 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64792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1E2761"/>
                </a:solidFill>
                <a:latin typeface="Arial"/>
              </a:rPr>
              <a:t>Whose gateway: IBM Research’s ETE LiteLLM, an enterprise deployment we are a tenant of — not a Red Hat service, and not ours.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21408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926080"/>
                <a:gridCol w="1554480"/>
                <a:gridCol w="1645920"/>
                <a:gridCol w="13716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benchmarked alias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gateway entry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input $/1M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output $/1M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vs 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claude-haiku-4-5-20251001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aws/claude-haiku-4-5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0.76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3.80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0.50×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2.28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11.40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1.50×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1.52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7.60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1.00×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claude-opus-5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aws/claude-opus-5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3.80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19.00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2.50×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30752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2C5F2D"/>
                </a:solidFill>
                <a:latin typeface="Arial"/>
              </a:rPr>
              <a:t>sonnet-5 is priced at 2/3 of sonnet-4-6 — the single most consequential fact in the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87952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B85042"/>
                </a:solidFill>
                <a:latin typeface="Arial"/>
              </a:rPr>
              <a:t>Correction, 2026-09-23 — an earlier version of this slide said no automated pull was 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498848"/>
            <a:ext cx="10332720" cy="8686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True of the UI, wrong about the API. The rates above were transcribed by hand on 2026-09-09 from a page that does need an interactive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web authorization — but GET /public/litellm_model_cost_map needs NO credential, and agrees with that transcription on all four models and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both directions. It is now pinned in prices.json and drift-checked. What it publishes is the UPSTREAM provider’s list price: this gateway bills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BELOW list, by the same proportion for every model and both directions. The proportion is a term of somebody else’s enterprise deployment,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so it is not stated here — and it is inferred from the two cards agreeing, never read: /config/cost_margin_config is 403 for our key.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504688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Arial"/>
              </a:rPr>
              <a:t>The cache caveat — narrower than it was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797296"/>
            <a:ext cx="103327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81–97% of our prompt tokens are CACHE READS. Scenario B prices them ×0.10 and cacheWrite ×1.25, landing ~4–5× below scenario A, which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bills every prompt token at the input rate. Those multipliers were an assumption about the Anthropic convention; the map states them</a:t>
            </a:r>
          </a:p>
          <a:p>
            <a:pPr algn="l"/>
            <a:r>
              <a:rPr sz="1150" b="0">
                <a:solidFill>
                  <a:srgbClr val="2B2B2B"/>
                </a:solidFill>
                <a:latin typeface="Arial"/>
              </a:rPr>
              <a:t>outright, so they are a READING now. Whether the gateway APPLIES the tiers when it invoices is still UNVERIFIED — but ranking holds in both.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1 · PASS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A prediction of ours that was falsified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Arial"/>
              </a:rPr>
              <a:t>We argued a compliance task cannot rank models: the OFF arm is pinned at 0 by the pre-screen and the ON</a:t>
            </a:r>
          </a:p>
          <a:p>
            <a:pPr algn="l"/>
            <a:r>
              <a:rPr sz="1400" b="0">
                <a:solidFill>
                  <a:srgbClr val="2B2B2B"/>
                </a:solidFill>
                <a:latin typeface="Arial"/>
              </a:rPr>
              <a:t>arm at 100 because the skill states the answer. That held only for the two mid-tier models we had tested.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60604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389120"/>
                <a:gridCol w="42976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xlsx-fin-colors  OFF → 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xlsx-fin-font-clean  OFF → 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0.00 → 0.52 (n=29)   ← fails even when TOLD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0.37 (n=30) → 1.00   ← knows it UNAIDED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0.00 → 1.00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224528"/>
            <a:ext cx="108813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0">
                <a:solidFill>
                  <a:srgbClr val="6B6B6B"/>
                </a:solidFill>
                <a:latin typeface="Arial"/>
              </a:rPr>
              <a:t>Every cell is n=5 except the two annotated ones — the only two rates here that are neither 0 nor 1, so the only two sampling error could overturn. They were taken to n≈30: both ROSE (0.40→0.52, 0.20→0.37) and both 95% intervals roughly halved. The n=5 readings were pessimistic, not misdirected.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00600"/>
            <a:ext cx="10698480" cy="73152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“The measure is saturated” is a claim about the models you happened to test —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not a claim about the task.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2 ·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Two factors drive token cost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19072"/>
            <a:ext cx="10698480" cy="71323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E2761"/>
                </a:solidFill>
                <a:latin typeface="Arial"/>
              </a:rPr>
              <a:t>tokens per task   =   tokens per LLM CALL   ×   LLM calls per task</a:t>
            </a:r>
          </a:p>
          <a:p>
            <a:pPr algn="ctr"/>
            <a:r>
              <a:rPr sz="1500" b="1">
                <a:solidFill>
                  <a:srgbClr val="1E2761"/>
                </a:solidFill>
                <a:latin typeface="Arial"/>
              </a:rPr>
              <a:t>                              (a MODEL property)              (a TASK property)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Factor 1 — tokens per LLM call: ratio vs sonnet-4-6, across five structurally different cells.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“spread” = highest ratio minus lowest. Small spread means the ratio is a property of the MODEL, not of the task</a:t>
            </a:r>
          </a:p>
          <a:p>
            <a:pPr algn="l">
              <a:spcAft>
                <a:spcPts val="100"/>
              </a:spcAft>
            </a:pPr>
            <a:r>
              <a:rPr sz="1250" b="0">
                <a:solidFill>
                  <a:srgbClr val="6B6B6B"/>
                </a:solidFill>
                <a:latin typeface="Arial"/>
              </a:rPr>
              <a:t>(≤0.15 is reported as CONSTANT).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310128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155448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range across the 5 cells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spread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reading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0.95 – 1.04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≈ same context per LLM call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1.18 – 1.24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≈1.21× more per LLM call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0.88 – 0.93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≈0.90× — leaner per LLM call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61772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B85042"/>
                </a:solidFill>
                <a:latin typeface="Arial"/>
              </a:rPr>
              <a:t>Factor 2 — LLM calls per task: NOT constant. 0.40–1.00× for haiku, 0.83–2.00× for opus-5, by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983480"/>
            <a:ext cx="10698480" cy="685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1E2761"/>
                </a:solidFill>
                <a:latin typeface="Arial"/>
              </a:rPr>
              <a:t>One TASK is one `claude -p` run making SEVERAL LLM calls (2–29), each re-sending the growing conversation.</a:t>
            </a:r>
          </a:p>
          <a:p>
            <a:pPr algn="ctr"/>
            <a:r>
              <a:rPr sz="1250" b="1">
                <a:solidFill>
                  <a:srgbClr val="1E2761"/>
                </a:solidFill>
                <a:latin typeface="Arial"/>
              </a:rPr>
              <a:t>A raw token total multiplies the two factors and hides both.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</a:rPr>
              <a:t>That re-sending is also why cache reads are 81–97% of prompt tokens in every cell.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3 · COST PER SOLVED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Money reverses the token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</a:rPr>
              <a:t>$ per SOLVED task (scenario B). Cost per solved = median tokens ÷ pass rate, so failures are charged.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14884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xlsx-fin-colors (ON)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0.0386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0.1746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0.1608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0.2719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 (ON)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0.0822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0.1896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0.1261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0.2486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cortex-pyfix-001 (no skill)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0.0313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0.0839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0.0588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B85042"/>
                          </a:solidFill>
                          <a:latin typeface="Arial"/>
                        </a:rPr>
                        <a:t>0.1030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3703320"/>
            <a:ext cx="5120640" cy="82296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opus-5 used the FEWEST tokens on two of three cells —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and is the MOST EXPENSIVE on all three.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3703320"/>
            <a:ext cx="5120640" cy="82296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sonnet-5 uses MORE tokens than sonnet-4-6 yet costs LESS on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2 of 3 cells, at 2/3 the unit price — but only ONE separates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them: canary, p=0.008, REPRODUCED at 30.6% next day. Colors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is a TIE (p=0.78); font-clean flipped. Don't quote 2 of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Same cells under scenario A (no cache discount). haiku stays cheapest and opus-5 dearest everywhere — the two sonnets</a:t>
            </a:r>
          </a:p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appear to SWAP on xlsx-fin-colors, but neither ordering is established there (p = 0.78 under B, 0.40 under A):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521208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xlsx-fin-colors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0.1409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0.6677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0.8920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1.1625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0.3501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0.8484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0.6625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1.1259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cortex-pyfix-001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C5F2D"/>
                          </a:solidFill>
                          <a:latin typeface="Arial"/>
                        </a:rPr>
                        <a:t>0.1597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0.4582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0.3113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B85042"/>
                          </a:solidFill>
                          <a:latin typeface="Arial"/>
                        </a:rPr>
                        <a:t>0.5649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33832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B85042"/>
                </a:solidFill>
                <a:latin typeface="Arial"/>
              </a:rPr>
              <a:t>haiku's 0.0822 already charges it for a 0.52 pass rate (n=29) — cheapest even after paying for its failures.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4 · TWO DIFFERENT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Token-efficiency is not cost-efficiency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783080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438912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l"/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token-efficiency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cost-efficiency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measures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tokens per SOLVED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dollars per SOLVED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binding when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context window, rate limits, latency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you are paying the bill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driven by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how much context and how many calls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the same, weighted by unit price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20040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They diverge because unit price spans 5× (haiku $0.76 → opus-5 $3.80 per 1M input), which swamps the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~2× spread in token counts. On cortex-pyfix-001 the two rankings are EXACTLY INVERTED: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379476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77440"/>
                <a:gridCol w="1463040"/>
                <a:gridCol w="2377440"/>
                <a:gridCol w="146304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tokens/solved 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$/solved 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rank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144,834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0.1030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4th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196,634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0.0839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200,732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3rd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0.0588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2nd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204,034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4th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0.0313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1st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440680"/>
            <a:ext cx="10241280" cy="73152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opus-5 is the MOST token-efficient and the LEAST cost-efficient model tested.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Quoting one number and calling it “efficiency” picks the answer by accident.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5 · MEASUREMENT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A subagent's calls land in the totals — and can't be separated 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01952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84831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Arial"/>
              </a:rPr>
              <a:t>The child's HTTPS_PROXY is inherited by its subprocesses, so a subagent's traffic crosses the same proxy.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42316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measure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effect of downstream work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total tokens / dollars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CORRECT — the calls really happened and are really billed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tokens per LLM call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unaffected — still that model's per-call average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LLM calls per task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INFLATED — the “task” is no longer a single agent loop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any skill-overhead ratio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INVALID — it compares two different amounts of work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950208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Magnitude where it occurred — affected repetitions vs others in the same cell: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279392"/>
          <a:ext cx="1088136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cell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 downstream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without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pptx-body-left-aligned ON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26 calls / 1,255,632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10 calls / 458,514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pptx-size-contrast ON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36 calls / 1,908,134 tok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10 calls / 491,474 tok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select-deck SELECT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46 calls / 2,485,834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2B2B2B"/>
                          </a:solidFill>
                          <a:latin typeface="Arial"/>
                        </a:rPr>
                        <a:t>7 calls / 302,900 tok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486400"/>
            <a:ext cx="10241280" cy="822960"/>
          </a:xfrm>
          <a:prstGeom prst="roundRect">
            <a:avLst/>
          </a:prstGeom>
          <a:solidFill>
            <a:srgbClr val="1E2761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2.7×–8.2×. The detector that should have flagged these matched a tool named `Task`, but this build names it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`Agent` — so it never fired and 5 repetitions passed as clean. Fixed and unit-tested. The xlsx COST PROFILE</a:t>
            </a:r>
          </a:p>
          <a:p>
            <a:pPr algn="ctr"/>
            <a:r>
              <a:rPr sz="1250" b="1">
                <a:solidFill>
                  <a:srgbClr val="FFFFFF"/>
                </a:solidFill>
                <a:latin typeface="Arial"/>
              </a:rPr>
              <a:t>is unaffected: none of the 5 fall in its 20 cells.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6 · OVERHEAD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Skill cost is a property of skill ×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skill-on ÷ skill-off, same skill (xlsx), same task, same model. Tokens AND dollars — they differ,</a:t>
            </a:r>
          </a:p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because the input/output/cache mix shifts between arms even at a fixed unit price.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1828800"/>
                <a:gridCol w="182880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task / measure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haiku-4-5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sonnet-4-6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sonnet-5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opus-5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xlsx-fin-colors — tokens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2.88×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1.54×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1.98×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0.94×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xlsx-fin-colors — dollars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1.97×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1.44×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1.80×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1.04×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 — tokens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3.33×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2.06×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1.44×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1.01×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xlsx-fin-font-clean — dollars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B85042"/>
                          </a:solidFill>
                          <a:latin typeface="Arial"/>
                        </a:rPr>
                        <a:t>2.21×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1.69×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B2B2B"/>
                          </a:solidFill>
                          <a:latin typeface="Arial"/>
                        </a:rPr>
                        <a:t>1.32×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300" b="0">
                          <a:solidFill>
                            <a:srgbClr val="2C5F2D"/>
                          </a:solidFill>
                          <a:latin typeface="Arial"/>
                        </a:rPr>
                        <a:t>1.08×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2336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700" b="1">
                <a:solidFill>
                  <a:srgbClr val="1E2761"/>
                </a:solidFill>
                <a:latin typeface="Arial"/>
              </a:rPr>
              <a:t>“What does this skill cost?” has no single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1088136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On opus-5 the skill adds only 6–8% in dollars; on haiku it roughly doubles the bill. Opus-5 barely notices it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because it already works ~2× the calls WITHOUT the skill (10 vs 8 on colors), so the guidance replaces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exploration rather than adding to it. That is why its token ratio can dip below 1.0.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Caveat: this rests on ONE skill. Whether the effect belongs to opus-5 or to xlsx is currently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B2B2B"/>
                </a:solidFill>
                <a:latin typeface="Arial"/>
              </a:rPr>
              <a:t>indistinguishable — three more tasks on docx / pptx / pdf would separate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3 · FINDINGS  ·  FINDING 7 ·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Skill selection is reliable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0">
                <a:solidFill>
                  <a:srgbClr val="2B2B2B"/>
                </a:solidFill>
                <a:latin typeface="Arial"/>
              </a:rPr>
              <a:t>All four candidate skills present, prompt names none, verdict read from the transcript.</a:t>
            </a:r>
          </a:p>
          <a:p>
            <a:pPr algn="l"/>
            <a:r>
              <a:rPr sz="1500" b="0">
                <a:solidFill>
                  <a:srgbClr val="2B2B2B"/>
                </a:solidFill>
                <a:latin typeface="Arial"/>
              </a:rPr>
              <a:t>sonnet-4-6, n=3 per task — 12/12 correct, 0 confounded.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514600"/>
          <a:ext cx="108813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2194560"/>
                <a:gridCol w="22860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cue strength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expected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fired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select-spreadsheet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names the artifact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 ×3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select-deck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names the artifact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pptx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pptx ×3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select-implicit-sheet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never says “spreadsheet”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xlsx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xlsx ×3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select-none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plain bugfix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B2B2B"/>
                          </a:solidFill>
                          <a:latin typeface="Arial"/>
                        </a:rPr>
                        <a:t>nothing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2C5F2D"/>
                          </a:solidFill>
                          <a:latin typeface="Arial"/>
                        </a:rPr>
                        <a:t>nothing ×3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11480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A negative case is mandatory: measuring only true positives rewards a model that fires a skill on</a:t>
            </a:r>
          </a:p>
          <a:p>
            <a:pPr algn="l"/>
            <a:r>
              <a:rPr sz="1300" b="0">
                <a:solidFill>
                  <a:srgbClr val="6B6B6B"/>
                </a:solidFill>
                <a:latin typeface="Arial"/>
              </a:rPr>
              <a:t>everything. Consequence — these four are now too easy to discriminate; extending needs ambiguous prompts.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892040"/>
            <a:ext cx="1069848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1E2761"/>
                </a:solidFill>
                <a:latin typeface="Arial"/>
              </a:rPr>
              <a:t>Only here is the transcript authoritative: a MODEL-SELECTED skill is a real Skill tool call,</a:t>
            </a:r>
          </a:p>
          <a:p>
            <a:pPr algn="ctr"/>
            <a:r>
              <a:rPr sz="1300" b="0">
                <a:solidFill>
                  <a:srgbClr val="1E2761"/>
                </a:solidFill>
                <a:latin typeface="Arial"/>
              </a:rPr>
              <a:t>whereas an explicit /skill-name is expanded client-side and never appears in the transcript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CADCFC"/>
                </a:solidFill>
                <a:latin typeface="Arial"/>
              </a:rPr>
              <a:t>4 · CONCLUSION  · 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</a:rPr>
              <a:t>Model selection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1088136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0">
                <a:solidFill>
                  <a:srgbClr val="CADCFC"/>
                </a:solidFill>
                <a:latin typeface="Arial"/>
              </a:rPr>
              <a:t>on the benchmark evidence, for skill-driven document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383280" cy="2606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ADOPT AS DEFAULT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claude-sonnet-5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100% pass on every task, and never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ESTABLISHED as dearer than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sonnet-4-6 (scenario B): decisively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cheaper on the canary (30%,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p=0.008, and it REPRODUCED at 30.6%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 day later); colors a TIE (8%,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p=0.78); font-clean UNRESOLVED — it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flipped sign on a re-run. Despite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MORE tokens: 2/3 unit price absorbs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1.21×/call.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2606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ONLY WITH A VALIDATOR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claude-haiku-4-5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Most cost-efficient everywhere,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by 1.5–4.2× over the next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cheapest, and fastest. But it failed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14 of 29 WITH the skill supplied,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and 7 of those 15 assertion failures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are invisible to review — incl. 3 that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hardcoded values instead of formulas.</a:t>
            </a:r>
          </a:p>
          <a:p>
            <a:pPr algn="ctr"/>
            <a:r>
              <a:rPr sz="1150" b="0">
                <a:solidFill>
                  <a:srgbClr val="2B2B2B"/>
                </a:solidFill>
                <a:latin typeface="Arial"/>
              </a:rPr>
              <a:t>Retry needs a validator.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383280" cy="2606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NOT INDICATED HERE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claude-opus-5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/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Most expensive in all three cells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(1.7–2.0× sonnet-5, scenario B), no pass-rate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advantage. Genuinely the most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token-efficient and the only model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to solve a task unaided — may earn</a:t>
            </a:r>
          </a:p>
          <a:p>
            <a:pPr algn="ctr"/>
            <a:r>
              <a:rPr sz="1200" b="0">
                <a:solidFill>
                  <a:srgbClr val="2B2B2B"/>
                </a:solidFill>
                <a:latin typeface="Arial"/>
              </a:rPr>
              <a:t>its premium on harder 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088136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Confidence: pass rates, the cheapest/dearest ordering and the token/cost inversion all hold across BOTH pricing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scenarios; tokens/call holds across five independent cells. Absolute dollar figures are indicative — n=5 in 18 cells,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cache billing unverified, and only 1 of the 3 sonnet-vs-sonnet cells separates the two models at all — that one</a:t>
            </a:r>
          </a:p>
          <a:p>
            <a:pPr algn="l"/>
            <a:r>
              <a:rPr sz="1300" b="0">
                <a:solidFill>
                  <a:srgbClr val="CADCFC"/>
                </a:solidFill>
                <a:latin typeface="Arial"/>
              </a:rPr>
              <a:t>cell was re-measured a day later and held, but 18 of 20 cells have never been re-measured.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9AB0D8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Arial"/>
              </a:rPr>
              <a:t>4 · CONCLUSION  ·  WHAT WOULD CHANGE THE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Arial"/>
              </a:rPr>
              <a:t>Limitations, stated plainly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81328"/>
            <a:ext cx="1005840" cy="45720"/>
          </a:xfrm>
          <a:prstGeom prst="rect">
            <a:avLst/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27632"/>
          <a:ext cx="108813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7315200"/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limitation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consequence</a:t>
                      </a:r>
                    </a:p>
                  </a:txBody>
                  <a:tcPr marL="64008" marR="64008" marT="18288" marB="18288">
                    <a:solidFill>
                      <a:srgbClr val="1E276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One skill (xlsx)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every skill-specific conclusion is xlsx-specific; “free on opus-5” may be an xlsx property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Uneven n: 18 cells at 5, 2 at ≈30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chosen, not accidental — the 2 non-saturated pass rates got the reps. CV to 0.85, so a single cell's median is indicative; tokens/call constants are solid (5 cells agree)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Not every $ gap is a finding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the sonnet-5 vs sonnet-4-6 saving is established on only 1 of 3 cells (canary, p=0.008); colors is a tie (p=0.78, ~617 reps/cell to settle) and font-clean is unresolved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One cell is NOT stationary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re-run 23 h later, sonnet-5 took ×3.4 cost / ×4.1 tokens on font-clean for the same output while sonnet-4-6 held to 3%. A second probe on the canary cell reproduced sonnet-5 to 0.1%, so it is cell-specific, not a gateway alias change — but stability proven on 1 cell says nothing about the other 18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Cache billing unverified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4–5× on ABSOLUTE cost; no headline ranking changes, and the sonnets' apparent swap on colors is an unresolved comparison, not a real reversal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Two tasks, one narrow genre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financial-spreadsheet formatting. Not a general coding benchmark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aws/ vs bare alias pricing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assumed identical; unprovable with a non-admin key</a:t>
                      </a:r>
                    </a:p>
                  </a:txBody>
                  <a:tcPr marL="64008" marR="64008" marT="18288" marB="18288">
                    <a:solidFill>
                      <a:srgbClr val="FAF9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Wall-clock not load-controlled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100" b="0">
                          <a:solidFill>
                            <a:srgbClr val="2B2B2B"/>
                          </a:solidFill>
                          <a:latin typeface="Arial"/>
                        </a:rPr>
                        <a:t>gateway-dependent; treat as indicative only</a:t>
                      </a:r>
                    </a:p>
                  </a:txBody>
                  <a:tcPr marL="64008" marR="64008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4800600"/>
            <a:ext cx="1088136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If the gateway does NOT discount cache reads, absolute costs rise ~4–5× and cache-heavy agentic use becomes far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more expensive in aggregate — the ranking survives, but budget planning changes materially. If harder tasks were</a:t>
            </a:r>
          </a:p>
          <a:p>
            <a:pPr algn="l"/>
            <a:r>
              <a:rPr sz="1300" b="0">
                <a:solidFill>
                  <a:srgbClr val="2B2B2B"/>
                </a:solidFill>
                <a:latin typeface="Arial"/>
              </a:rPr>
              <a:t>added, haiku’s reliability gap would likely widen and opus-5 might start earning its premium.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669280"/>
            <a:ext cx="108813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Arial"/>
              </a:rPr>
              <a:t>Full detail, every figure and the reproduction steps: results/EVALUATION.md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/>
            <a:r>
              <a:rPr sz="1100" b="0">
                <a:solidFill>
                  <a:srgbClr val="6B6B6B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